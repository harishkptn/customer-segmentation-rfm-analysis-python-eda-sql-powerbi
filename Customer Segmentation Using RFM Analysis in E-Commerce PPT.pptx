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  <p:sldMasterId id="2147483791" r:id="rId2"/>
  </p:sldMasterIdLst>
  <p:notesMasterIdLst>
    <p:notesMasterId r:id="rId25"/>
  </p:notes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0" r:id="rId18"/>
    <p:sldId id="271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rubasappa hoonalli" initials="Gh" lastIdx="1" clrIdx="0">
    <p:extLst>
      <p:ext uri="{19B8F6BF-5375-455C-9EA6-DF929625EA0E}">
        <p15:presenceInfo xmlns:p15="http://schemas.microsoft.com/office/powerpoint/2012/main" userId="f88767844f4401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65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9F6D7-9415-4E6A-96AD-4E0208BDBB9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9FAA3-2C7B-411E-A86F-A7A3BE7F50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97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9FAA3-2C7B-411E-A86F-A7A3BE7F505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802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6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1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4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9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19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69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14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05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52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62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489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3206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93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25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082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092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46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9ACA-C754-CD51-8373-81789827F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61F5A-A2DB-C00B-AB5B-081118553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CF23-12A2-2BEF-E788-97AA432C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FF12E-4043-8386-54A8-F4E8D8C7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BDF5-D7A7-3FB2-DB91-97CA2EF7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0006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0085-CE31-F5D3-FC42-41312E82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DC30-CCBC-88A9-9A3A-0DEB127FB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1FF59-45ED-9B08-C991-F2A6CE7B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6B6B3-5E41-EB2C-A330-7345A253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00A8-17A1-EC35-B3B1-69C32ED4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428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8A6E-F8BC-1C4D-872D-39021AC0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86EF7-1B8E-7CCE-FCF2-388DE10C9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EDB80-8164-69E1-FACE-6CD9F353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36842-CB03-E515-8EA4-F774D9A8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D3653-3347-18A2-F7AA-9C2A4511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408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7997-08A4-F8C0-C956-B560D98F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0C46-031C-AD4B-4FAA-4AD6352D7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EFD1F-7DC5-F186-3B83-677C28ED7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3D99D-E671-E46C-6629-CF089929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20F79-64A1-D68F-345C-8C84A39A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A56D-965C-1EA5-1C17-DA18181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754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F4C5-BFBD-5C67-5D7F-0227C3CB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7FD8-4362-0502-4941-1166262B4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1B552-664E-A977-4C1C-ED08C4005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2BE25C-802C-5818-44DE-417582017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BD044-4ED3-C5E4-D9D5-CDE6BC6A4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32D65-F2AB-0656-10BC-A8D92CC6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D4A70-404C-E494-5F7C-79A66783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E9A1E5-72E1-298D-2173-84B7D32F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6290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B0AC-05D2-0F29-FE58-58CF685A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62FA4-FDA6-2E4D-272D-FFAD3116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DB210-94ED-4309-F400-EBE8BF1E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DDB60-2D2A-A2CF-E1B8-777C3C15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8851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577D2-8AD3-8701-6DA2-B5C7FDC6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55499-19F1-3CEA-56C1-DE5AC21A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53BA8-9DB2-A4CB-577E-1521D62E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1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4037-C818-F612-6376-B9C736B0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A28D8-C9AA-AF57-819B-E9B94C1D2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43766-0922-4C21-413B-8820B0B5D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148EF-D3D2-9D3A-185E-A390A827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799B1-A1F4-48D0-14CD-2BD25232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2006D-1C36-5505-7DF6-F4A55DA3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4300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49DD-4A70-DB68-4F72-53BA15D6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A8FED-A21F-2B8C-435A-7520C7B19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E5EFF-A57C-57E3-E068-C451BA326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F4826-B1D8-2A16-2704-BBC8999A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DF7FB-9903-F595-927A-1FF3C1B4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A946D-F8E3-B8A4-178C-0A12E325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4373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00BC-B8FA-7084-25C6-159007BB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E8601-586A-C3B1-F8A0-8641E34E1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E2464-8ADD-6EDB-E667-970DF3CD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B7F93-4A94-B7AA-204A-7A17C27A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DDC5-D95A-ED74-04FE-8172DDB3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6823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FAFD3-2142-E307-C1A9-635CF7C27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D17CE-57E2-BD5F-AC5C-CB1E0A05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BC6B-8691-C260-9510-AD5E62BC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9D24B-B8D2-3F20-11F0-482CFF9D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F3FD8-FFED-C903-5830-57E04C5D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11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915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B53FA-1941-83ED-540E-EA7533B9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C927B-FB42-8858-A7B7-A3A0F257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75962-F2C1-6CE6-66C0-34564EE40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23224-9D27-4EB2-A691-76C498C05CA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4D98C-7DF0-A519-CA4E-CE66FB91F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0D8B-5488-6604-6FE3-F8F30FBBA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E1572-0FA4-4EB8-8D9C-BE5140522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86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22D0-591B-D5FB-C82B-BCFD69BA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1185863"/>
            <a:ext cx="10431463" cy="2586037"/>
          </a:xfrm>
        </p:spPr>
        <p:txBody>
          <a:bodyPr>
            <a:normAutofit/>
          </a:bodyPr>
          <a:lstStyle/>
          <a:p>
            <a:r>
              <a:rPr lang="e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 Using RFM Analysis in E-Commerce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C12B67-9625-4470-83F8-8E4231545CC9}"/>
              </a:ext>
            </a:extLst>
          </p:cNvPr>
          <p:cNvSpPr/>
          <p:nvPr/>
        </p:nvSpPr>
        <p:spPr>
          <a:xfrm>
            <a:off x="0" y="0"/>
            <a:ext cx="12192000" cy="1557338"/>
          </a:xfrm>
          <a:prstGeom prst="rect">
            <a:avLst/>
          </a:prstGeom>
          <a:solidFill>
            <a:srgbClr val="1F4E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Problem Statement and Objective</a:t>
            </a:r>
            <a:endParaRPr lang="en-IN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9A1A4-89D9-5FDA-01D9-AE765F8A566C}"/>
              </a:ext>
            </a:extLst>
          </p:cNvPr>
          <p:cNvSpPr txBox="1"/>
          <p:nvPr/>
        </p:nvSpPr>
        <p:spPr>
          <a:xfrm>
            <a:off x="0" y="1557339"/>
            <a:ext cx="12192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Problem Statement: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dirty="0"/>
              <a:t>E-commerce companies generate large volumes of transactional data but often struggle to convert it into actionable customer insights.</a:t>
            </a:r>
            <a:br>
              <a:rPr lang="en-GB" dirty="0"/>
            </a:br>
            <a:r>
              <a:rPr lang="en-GB" dirty="0"/>
              <a:t>Without proper segmentation, businesses find it difficult to identify high-value customers, reduce churn, and optimize marketing strategies.</a:t>
            </a:r>
          </a:p>
          <a:p>
            <a:pPr>
              <a:buNone/>
            </a:pPr>
            <a:r>
              <a:rPr lang="en-GB" dirty="0"/>
              <a:t>RFM analysis helps analyse customer purchasing behaviour and enables data-driven marketing decisions.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73FE8-CC07-B6A1-BC10-40CE7B912B17}"/>
              </a:ext>
            </a:extLst>
          </p:cNvPr>
          <p:cNvSpPr txBox="1"/>
          <p:nvPr/>
        </p:nvSpPr>
        <p:spPr>
          <a:xfrm>
            <a:off x="0" y="3650220"/>
            <a:ext cx="1207293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b="1" dirty="0"/>
          </a:p>
          <a:p>
            <a:r>
              <a:rPr lang="en-GB" sz="2400" b="1" dirty="0"/>
              <a:t>Project Objectives:</a:t>
            </a:r>
          </a:p>
          <a:p>
            <a:endParaRPr lang="en-GB" dirty="0"/>
          </a:p>
          <a:p>
            <a:r>
              <a:rPr lang="en-GB" dirty="0"/>
              <a:t>• Apply the RFM (Recency, Frequency, Monetary) model to segment customers.</a:t>
            </a:r>
            <a:br>
              <a:rPr lang="en-GB" dirty="0"/>
            </a:br>
            <a:r>
              <a:rPr lang="en-GB" dirty="0"/>
              <a:t>• Identify high-value customers and at-risk segments.</a:t>
            </a:r>
            <a:br>
              <a:rPr lang="en-GB" dirty="0"/>
            </a:br>
            <a:r>
              <a:rPr lang="en-GB" dirty="0"/>
              <a:t>• Analyse purchasing behaviour patterns.</a:t>
            </a:r>
            <a:br>
              <a:rPr lang="en-GB" dirty="0"/>
            </a:br>
            <a:r>
              <a:rPr lang="en-GB" dirty="0"/>
              <a:t>• Provide insights through interactive dashboards and visualizations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9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5857A9D-EBD9-8CE2-3C1F-84EC6D8D7D00}"/>
              </a:ext>
            </a:extLst>
          </p:cNvPr>
          <p:cNvSpPr/>
          <p:nvPr/>
        </p:nvSpPr>
        <p:spPr>
          <a:xfrm>
            <a:off x="0" y="0"/>
            <a:ext cx="12192000" cy="1985963"/>
          </a:xfrm>
          <a:prstGeom prst="rect">
            <a:avLst/>
          </a:prstGeom>
          <a:solidFill>
            <a:srgbClr val="1F4E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FE266-CC7A-49C6-B9F2-9DBE5709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871663"/>
          </a:xfrm>
        </p:spPr>
        <p:txBody>
          <a:bodyPr>
            <a:normAutofit/>
          </a:bodyPr>
          <a:lstStyle/>
          <a:p>
            <a:r>
              <a:rPr lang="en" dirty="0">
                <a:solidFill>
                  <a:schemeClr val="bg1"/>
                </a:solidFill>
              </a:rPr>
              <a:t>Dataset Overview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31E73-DAE8-E7E0-2F00-8702F4340615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" y="1985963"/>
            <a:ext cx="5086350" cy="48720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r>
              <a:rPr lang="en-GB" sz="2000" b="1" dirty="0"/>
              <a:t>Source:</a:t>
            </a:r>
            <a:r>
              <a:rPr lang="en-GB" sz="2000" dirty="0"/>
              <a:t> Online Retail Dataset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IN" sz="2000" b="1" dirty="0"/>
              <a:t>Dataset Type: </a:t>
            </a:r>
            <a:r>
              <a:rPr lang="en-IN" sz="2000" dirty="0"/>
              <a:t>Transactional E-commerce sales data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Records:</a:t>
            </a:r>
            <a:r>
              <a:rPr lang="en-GB" sz="2000" dirty="0"/>
              <a:t> 541,909 transactions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Features:</a:t>
            </a:r>
            <a:r>
              <a:rPr lang="en-GB" sz="2000" dirty="0"/>
              <a:t> 8 variables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sz="2000" b="1" dirty="0"/>
              <a:t>Time Period:</a:t>
            </a:r>
            <a:r>
              <a:rPr lang="en-GB" sz="2000" dirty="0"/>
              <a:t> Dec 2010 – Dec 2011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8995BD-DA21-282A-C582-022867DEFFAF}"/>
              </a:ext>
            </a:extLst>
          </p:cNvPr>
          <p:cNvSpPr txBox="1"/>
          <p:nvPr/>
        </p:nvSpPr>
        <p:spPr>
          <a:xfrm>
            <a:off x="6096000" y="2586038"/>
            <a:ext cx="59055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Key variables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InvoiveNo</a:t>
            </a:r>
            <a:r>
              <a:rPr lang="en-GB" b="1" dirty="0"/>
              <a:t>  </a:t>
            </a:r>
            <a:r>
              <a:rPr lang="en-GB" dirty="0"/>
              <a:t>: </a:t>
            </a:r>
            <a:r>
              <a:rPr lang="en-IN" dirty="0"/>
              <a:t>Unique transaction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Stockcod</a:t>
            </a:r>
            <a:r>
              <a:rPr lang="en-IN" dirty="0" err="1"/>
              <a:t>e</a:t>
            </a:r>
            <a:r>
              <a:rPr lang="en-IN" dirty="0"/>
              <a:t>  : Unique product 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Description</a:t>
            </a:r>
            <a:r>
              <a:rPr lang="en-IN" dirty="0"/>
              <a:t>: Product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Quantity     : </a:t>
            </a:r>
            <a:r>
              <a:rPr lang="en-IN" dirty="0"/>
              <a:t>Number of items purchased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InvoiceDate: </a:t>
            </a:r>
            <a:r>
              <a:rPr lang="en-IN" dirty="0"/>
              <a:t>Purchase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UnitPrice</a:t>
            </a:r>
            <a:r>
              <a:rPr lang="en-IN" b="1" dirty="0"/>
              <a:t>     : </a:t>
            </a:r>
            <a:r>
              <a:rPr lang="en-IN" dirty="0"/>
              <a:t>Price per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CustomerID</a:t>
            </a:r>
            <a:r>
              <a:rPr lang="en-IN" b="1" dirty="0"/>
              <a:t>: </a:t>
            </a:r>
            <a:r>
              <a:rPr lang="en-IN" dirty="0"/>
              <a:t>Unique customer 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Country       : </a:t>
            </a:r>
            <a:r>
              <a:rPr lang="en-IN" dirty="0"/>
              <a:t>Customer location</a:t>
            </a: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07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303F1F-ACDD-7A62-87E1-693B9CE9582C}"/>
              </a:ext>
            </a:extLst>
          </p:cNvPr>
          <p:cNvSpPr/>
          <p:nvPr/>
        </p:nvSpPr>
        <p:spPr>
          <a:xfrm>
            <a:off x="0" y="0"/>
            <a:ext cx="12192000" cy="15716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Data Cleaning and Preparation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73A43-96EE-106F-F45D-7A5162E96194}"/>
              </a:ext>
            </a:extLst>
          </p:cNvPr>
          <p:cNvSpPr txBox="1"/>
          <p:nvPr/>
        </p:nvSpPr>
        <p:spPr>
          <a:xfrm>
            <a:off x="257175" y="2136338"/>
            <a:ext cx="120205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Removed missing values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Removed </a:t>
            </a:r>
            <a:r>
              <a:rPr lang="en-IN" sz="2000" b="1" dirty="0"/>
              <a:t>duplicate transactions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dirty="0"/>
              <a:t>Filtered </a:t>
            </a:r>
            <a:r>
              <a:rPr lang="en-GB" sz="2000" b="1" dirty="0"/>
              <a:t>cancelled orders (</a:t>
            </a:r>
            <a:r>
              <a:rPr lang="en-GB" sz="2000" b="1" dirty="0" err="1"/>
              <a:t>InvoiceNo</a:t>
            </a:r>
            <a:r>
              <a:rPr lang="en-GB" sz="2000" b="1" dirty="0"/>
              <a:t> starting with 'C’)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Removed </a:t>
            </a:r>
            <a:r>
              <a:rPr lang="en-IN" sz="2000" b="1" dirty="0"/>
              <a:t>non-product stock codes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dirty="0"/>
              <a:t>Ensured dataset contains </a:t>
            </a:r>
            <a:r>
              <a:rPr lang="en-GB" sz="2000" b="1" dirty="0"/>
              <a:t>valid completed purchases only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7945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EBAEDE-95C9-1C5B-D5C0-11DD8286E702}"/>
              </a:ext>
            </a:extLst>
          </p:cNvPr>
          <p:cNvSpPr/>
          <p:nvPr/>
        </p:nvSpPr>
        <p:spPr>
          <a:xfrm>
            <a:off x="0" y="-72453"/>
            <a:ext cx="12192000" cy="15144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Data Cleaning and Preparation</a:t>
            </a:r>
            <a:endParaRPr lang="en-IN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516DC-2F8B-B023-44F4-A4D40B8CCA1D}"/>
              </a:ext>
            </a:extLst>
          </p:cNvPr>
          <p:cNvSpPr txBox="1"/>
          <p:nvPr/>
        </p:nvSpPr>
        <p:spPr>
          <a:xfrm>
            <a:off x="528638" y="1685924"/>
            <a:ext cx="11158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1. Handling Missing values:</a:t>
            </a:r>
            <a:endParaRPr lang="en-IN" sz="3200" b="1" dirty="0"/>
          </a:p>
        </p:txBody>
      </p:sp>
      <p:pic>
        <p:nvPicPr>
          <p:cNvPr id="8" name="Google Shape;94;p17">
            <a:extLst>
              <a:ext uri="{FF2B5EF4-FFF2-40B4-BE49-F238E27FC236}">
                <a16:creationId xmlns:a16="http://schemas.microsoft.com/office/drawing/2014/main" id="{BB822902-DB43-5672-1865-27792AEE3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5597" r="51006"/>
          <a:stretch/>
        </p:blipFill>
        <p:spPr>
          <a:xfrm>
            <a:off x="528638" y="2757488"/>
            <a:ext cx="3612413" cy="2414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7E08B8-464B-736E-8BF9-DDC96AA26436}"/>
              </a:ext>
            </a:extLst>
          </p:cNvPr>
          <p:cNvSpPr txBox="1"/>
          <p:nvPr/>
        </p:nvSpPr>
        <p:spPr>
          <a:xfrm>
            <a:off x="5543550" y="3271838"/>
            <a:ext cx="6243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The percentage of missing values in the </a:t>
            </a:r>
            <a:r>
              <a:rPr lang="en-GB" dirty="0" err="1">
                <a:latin typeface="Roboto"/>
                <a:ea typeface="Roboto"/>
                <a:cs typeface="Roboto"/>
                <a:sym typeface="Roboto"/>
              </a:rPr>
              <a:t>CustomerID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 column is </a:t>
            </a:r>
            <a:r>
              <a:rPr lang="en-GB" b="1" dirty="0">
                <a:latin typeface="Roboto"/>
                <a:ea typeface="Roboto"/>
                <a:cs typeface="Roboto"/>
                <a:sym typeface="Roboto"/>
              </a:rPr>
              <a:t>24.93%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lvl="0"/>
            <a:endParaRPr lang="en-GB" dirty="0"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Since the analysis will revolve around investigating customers and clustering them into categories, the missing values in the </a:t>
            </a:r>
            <a:r>
              <a:rPr lang="en-GB" dirty="0" err="1">
                <a:latin typeface="Roboto"/>
                <a:ea typeface="Roboto"/>
                <a:cs typeface="Roboto"/>
                <a:sym typeface="Roboto"/>
              </a:rPr>
              <a:t>CustomerIDs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 were removed.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30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08D03E-5E3C-51DE-11DF-4CACE18C1701}"/>
              </a:ext>
            </a:extLst>
          </p:cNvPr>
          <p:cNvSpPr/>
          <p:nvPr/>
        </p:nvSpPr>
        <p:spPr>
          <a:xfrm>
            <a:off x="0" y="0"/>
            <a:ext cx="12192000" cy="140017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Data Cleaning and Preparation</a:t>
            </a:r>
            <a:endParaRPr lang="en-IN" sz="4800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A9AD6-1199-7312-67B6-7A4B13FFE636}"/>
              </a:ext>
            </a:extLst>
          </p:cNvPr>
          <p:cNvSpPr txBox="1"/>
          <p:nvPr/>
        </p:nvSpPr>
        <p:spPr>
          <a:xfrm>
            <a:off x="0" y="1614488"/>
            <a:ext cx="6972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2.</a:t>
            </a:r>
            <a:r>
              <a:rPr lang="en-IN" sz="2800" b="1" dirty="0"/>
              <a:t> Removed duplicate transactions:</a:t>
            </a:r>
          </a:p>
          <a:p>
            <a:endParaRPr lang="en-IN" dirty="0"/>
          </a:p>
        </p:txBody>
      </p:sp>
      <p:pic>
        <p:nvPicPr>
          <p:cNvPr id="5" name="Google Shape;103;p18">
            <a:extLst>
              <a:ext uri="{FF2B5EF4-FFF2-40B4-BE49-F238E27FC236}">
                <a16:creationId xmlns:a16="http://schemas.microsoft.com/office/drawing/2014/main" id="{F0CC02D4-9DAF-57B5-6011-6F7B808F9F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7723" y="2543295"/>
            <a:ext cx="4551451" cy="27002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A8029F-5809-D2C1-2DF0-3BB4E9B88894}"/>
              </a:ext>
            </a:extLst>
          </p:cNvPr>
          <p:cNvSpPr txBox="1"/>
          <p:nvPr/>
        </p:nvSpPr>
        <p:spPr>
          <a:xfrm>
            <a:off x="5900738" y="3429000"/>
            <a:ext cx="571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The number of duplicate rows in the dataset is </a:t>
            </a:r>
            <a:r>
              <a:rPr lang="en-GB" b="1" dirty="0">
                <a:latin typeface="Roboto"/>
                <a:ea typeface="Roboto"/>
                <a:cs typeface="Roboto"/>
                <a:sym typeface="Roboto"/>
              </a:rPr>
              <a:t>5525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Roboto"/>
              <a:ea typeface="Roboto"/>
              <a:cs typeface="Roboto"/>
              <a:sym typeface="Roboto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These rows were removed from the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96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D5AB23-4C21-B92B-61FF-98C0806DBF99}"/>
              </a:ext>
            </a:extLst>
          </p:cNvPr>
          <p:cNvSpPr/>
          <p:nvPr/>
        </p:nvSpPr>
        <p:spPr>
          <a:xfrm>
            <a:off x="0" y="0"/>
            <a:ext cx="12192000" cy="140017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Data Cleaning and Preparation</a:t>
            </a:r>
            <a:endParaRPr lang="en-IN" sz="4800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935C0-FD9B-5AE1-21F6-71A7E9A7AA68}"/>
              </a:ext>
            </a:extLst>
          </p:cNvPr>
          <p:cNvSpPr txBox="1"/>
          <p:nvPr/>
        </p:nvSpPr>
        <p:spPr>
          <a:xfrm>
            <a:off x="0" y="1500187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3.Removed Cancelled orders:</a:t>
            </a:r>
            <a:endParaRPr lang="en-IN" sz="2800" b="1" dirty="0"/>
          </a:p>
        </p:txBody>
      </p:sp>
      <p:pic>
        <p:nvPicPr>
          <p:cNvPr id="5" name="Google Shape;112;p19">
            <a:extLst>
              <a:ext uri="{FF2B5EF4-FFF2-40B4-BE49-F238E27FC236}">
                <a16:creationId xmlns:a16="http://schemas.microsoft.com/office/drawing/2014/main" id="{7C21625B-21E2-85CA-1250-2907F24D4B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013" y="2023408"/>
            <a:ext cx="6284500" cy="483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F6CECF-2B07-B7A7-4C33-E7DE89F251E8}"/>
              </a:ext>
            </a:extLst>
          </p:cNvPr>
          <p:cNvSpPr txBox="1"/>
          <p:nvPr/>
        </p:nvSpPr>
        <p:spPr>
          <a:xfrm>
            <a:off x="6900863" y="3000375"/>
            <a:ext cx="51891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There are  </a:t>
            </a:r>
            <a:r>
              <a:rPr lang="en-GB" b="1" dirty="0">
                <a:latin typeface="Roboto"/>
                <a:ea typeface="Roboto"/>
                <a:cs typeface="Roboto"/>
                <a:sym typeface="Roboto"/>
              </a:rPr>
              <a:t>8872 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rows for which the quantity is negative which can be either due to data-entry errors or return orders or cancelled orders.</a:t>
            </a:r>
          </a:p>
          <a:p>
            <a:pPr lvl="0"/>
            <a:endParaRPr lang="en-GB" dirty="0">
              <a:latin typeface="Roboto"/>
              <a:ea typeface="Roboto"/>
              <a:cs typeface="Roboto"/>
              <a:sym typeface="Roboto"/>
            </a:endParaRPr>
          </a:p>
          <a:p>
            <a:pPr lvl="0"/>
            <a:endParaRPr lang="en-GB" dirty="0"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If we look at the </a:t>
            </a:r>
            <a:r>
              <a:rPr lang="en-GB" dirty="0" err="1">
                <a:latin typeface="Roboto"/>
                <a:ea typeface="Roboto"/>
                <a:cs typeface="Roboto"/>
                <a:sym typeface="Roboto"/>
              </a:rPr>
              <a:t>InvoiceNo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 for all these cases, they start with the letter ‘C’ which indicates they are </a:t>
            </a:r>
            <a:r>
              <a:rPr lang="en-GB" u="sng" dirty="0">
                <a:latin typeface="Roboto"/>
                <a:ea typeface="Roboto"/>
                <a:cs typeface="Roboto"/>
                <a:sym typeface="Roboto"/>
              </a:rPr>
              <a:t>cancelled orders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. Thus these rows were removed from the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52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04084F-22A2-44F3-2E9B-E991001A0394}"/>
              </a:ext>
            </a:extLst>
          </p:cNvPr>
          <p:cNvSpPr/>
          <p:nvPr/>
        </p:nvSpPr>
        <p:spPr>
          <a:xfrm>
            <a:off x="0" y="0"/>
            <a:ext cx="12192000" cy="140017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Data Cleaning and Preparation</a:t>
            </a:r>
            <a:endParaRPr lang="en-IN" sz="4800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1E911-B417-E9C2-3564-9A7D84DB3DB0}"/>
              </a:ext>
            </a:extLst>
          </p:cNvPr>
          <p:cNvSpPr txBox="1"/>
          <p:nvPr/>
        </p:nvSpPr>
        <p:spPr>
          <a:xfrm>
            <a:off x="0" y="1671638"/>
            <a:ext cx="6200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4. Removing Non-Product Stock-codes:</a:t>
            </a:r>
            <a:endParaRPr lang="en-IN" sz="28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087EA0-30AA-B8B0-1D50-E75121D12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729986"/>
              </p:ext>
            </p:extLst>
          </p:nvPr>
        </p:nvGraphicFramePr>
        <p:xfrm>
          <a:off x="142875" y="2466320"/>
          <a:ext cx="4957763" cy="2641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38">
                  <a:extLst>
                    <a:ext uri="{9D8B030D-6E8A-4147-A177-3AD203B41FA5}">
                      <a16:colId xmlns:a16="http://schemas.microsoft.com/office/drawing/2014/main" val="3639399170"/>
                    </a:ext>
                  </a:extLst>
                </a:gridCol>
                <a:gridCol w="2919425">
                  <a:extLst>
                    <a:ext uri="{9D8B030D-6E8A-4147-A177-3AD203B41FA5}">
                      <a16:colId xmlns:a16="http://schemas.microsoft.com/office/drawing/2014/main" val="1031885705"/>
                    </a:ext>
                  </a:extLst>
                </a:gridCol>
              </a:tblGrid>
              <a:tr h="505480">
                <a:tc>
                  <a:txBody>
                    <a:bodyPr/>
                    <a:lstStyle/>
                    <a:p>
                      <a:r>
                        <a:rPr lang="en-GB" dirty="0"/>
                        <a:t>Stock Codes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594857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GB" dirty="0"/>
                        <a:t>POST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Postage Charges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747612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GB" dirty="0"/>
                        <a:t>C2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Carriage Cost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7225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GB" dirty="0"/>
                        <a:t>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Manual adjustment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290157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GB" dirty="0"/>
                        <a:t>DOT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Dotcom Postage Charges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327786"/>
                  </a:ext>
                </a:extLst>
              </a:tr>
              <a:tr h="427147">
                <a:tc>
                  <a:txBody>
                    <a:bodyPr/>
                    <a:lstStyle/>
                    <a:p>
                      <a:r>
                        <a:rPr lang="en-GB" dirty="0"/>
                        <a:t>BANK CHARGES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Bank Charges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45791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7142118-7495-51D4-5766-26F449DA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5" y="2466320"/>
            <a:ext cx="6854350" cy="28028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47B97B-B38D-750A-F6F1-6406FE5B7A4E}"/>
              </a:ext>
            </a:extLst>
          </p:cNvPr>
          <p:cNvSpPr txBox="1"/>
          <p:nvPr/>
        </p:nvSpPr>
        <p:spPr>
          <a:xfrm>
            <a:off x="900113" y="5643563"/>
            <a:ext cx="1014412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There are certain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StockCodes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which do not belong to any products. All the rows containing such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StockCodes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"/>
              </a:rPr>
              <a:t> were removed.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90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DE0B7-A844-003C-4775-1325598C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" y="157163"/>
            <a:ext cx="11614249" cy="67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0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B3B83B-FA51-B46B-7992-3F2F6CA0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48"/>
            <a:ext cx="10001250" cy="5012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9BEF25-2AF1-E3DD-7561-48CA65F35064}"/>
              </a:ext>
            </a:extLst>
          </p:cNvPr>
          <p:cNvSpPr txBox="1"/>
          <p:nvPr/>
        </p:nvSpPr>
        <p:spPr>
          <a:xfrm>
            <a:off x="471488" y="5300663"/>
            <a:ext cx="11487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Significant increase in sales during September, October, and November 2011.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November 2011 recorded the highest sales (~1.13M).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Average monthly sales: 6,72,094.</a:t>
            </a:r>
          </a:p>
        </p:txBody>
      </p:sp>
    </p:spTree>
    <p:extLst>
      <p:ext uri="{BB962C8B-B14F-4D97-AF65-F5344CB8AC3E}">
        <p14:creationId xmlns:p14="http://schemas.microsoft.com/office/powerpoint/2010/main" val="78948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EABC4-78B3-5BD3-DAB3-76525EB9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"/>
            <a:ext cx="10301288" cy="53863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27F991-539E-364F-83B6-A4C54919D0A7}"/>
              </a:ext>
            </a:extLst>
          </p:cNvPr>
          <p:cNvSpPr txBox="1"/>
          <p:nvPr/>
        </p:nvSpPr>
        <p:spPr>
          <a:xfrm>
            <a:off x="-1" y="5672138"/>
            <a:ext cx="10772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Thursday recorded the highest sales (~22.2%).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No transactions were recorded on Saturday, indicating the business likely does not operate that day.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Sunday sales are lower compared to weekdays.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1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EF1CA-A998-A22F-4087-A3A147EFE587}"/>
              </a:ext>
            </a:extLst>
          </p:cNvPr>
          <p:cNvSpPr txBox="1"/>
          <p:nvPr/>
        </p:nvSpPr>
        <p:spPr>
          <a:xfrm>
            <a:off x="371475" y="1019770"/>
            <a:ext cx="5624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5400" dirty="0"/>
              <a:t>Pareto Principle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E4D39-D223-6E77-3552-54D2C137B26F}"/>
              </a:ext>
            </a:extLst>
          </p:cNvPr>
          <p:cNvSpPr txBox="1"/>
          <p:nvPr/>
        </p:nvSpPr>
        <p:spPr>
          <a:xfrm>
            <a:off x="283368" y="2828925"/>
            <a:ext cx="6143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The Pareto Principle states that a small percentage of customers generate the majority of revenue.</a:t>
            </a:r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In analytics, this is commonly known as the 80/20 rule, where approximately 20% of customers contribute around 80% of total sales.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90D6C-43A9-B098-2FBB-CCDA9661FC4E}"/>
              </a:ext>
            </a:extLst>
          </p:cNvPr>
          <p:cNvSpPr/>
          <p:nvPr/>
        </p:nvSpPr>
        <p:spPr>
          <a:xfrm>
            <a:off x="7286624" y="1001226"/>
            <a:ext cx="4400551" cy="49852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Google Shape;134;p21" title="Pareto.jpg">
            <a:extLst>
              <a:ext uri="{FF2B5EF4-FFF2-40B4-BE49-F238E27FC236}">
                <a16:creationId xmlns:a16="http://schemas.microsoft.com/office/drawing/2014/main" id="{4756035D-6E52-B272-B978-1C94744E556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5602" y="1481435"/>
            <a:ext cx="3088675" cy="4120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556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4A27DA-24E0-CFDA-37EB-A413894F9372}"/>
              </a:ext>
            </a:extLst>
          </p:cNvPr>
          <p:cNvSpPr/>
          <p:nvPr/>
        </p:nvSpPr>
        <p:spPr>
          <a:xfrm>
            <a:off x="0" y="-1"/>
            <a:ext cx="12192000" cy="10715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5A710-DAFD-E9E2-9DE1-111486640B5F}"/>
              </a:ext>
            </a:extLst>
          </p:cNvPr>
          <p:cNvSpPr txBox="1"/>
          <p:nvPr/>
        </p:nvSpPr>
        <p:spPr>
          <a:xfrm>
            <a:off x="0" y="157162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</a:rPr>
              <a:t>Customer Contribution to Revenue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F3358-DF80-F1C1-F369-1A1EEA342A26}"/>
              </a:ext>
            </a:extLst>
          </p:cNvPr>
          <p:cNvSpPr txBox="1"/>
          <p:nvPr/>
        </p:nvSpPr>
        <p:spPr>
          <a:xfrm>
            <a:off x="257174" y="1698129"/>
            <a:ext cx="114585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Statistics: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Total Customers: 4,335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Total Products: 3,659</a:t>
            </a:r>
          </a:p>
          <a:p>
            <a:endParaRPr lang="en-IN" dirty="0"/>
          </a:p>
          <a:p>
            <a:r>
              <a:rPr lang="en-IN" sz="2800" b="1" dirty="0"/>
              <a:t>Pareto Analysis Result: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26% </a:t>
            </a:r>
            <a:r>
              <a:rPr lang="en-GB" dirty="0"/>
              <a:t>of customers contribute to </a:t>
            </a:r>
            <a:r>
              <a:rPr lang="en-GB" b="1" dirty="0"/>
              <a:t>80% </a:t>
            </a:r>
            <a:r>
              <a:rPr lang="en-GB" dirty="0"/>
              <a:t>of total revenue</a:t>
            </a:r>
          </a:p>
          <a:p>
            <a:endParaRPr lang="en-GB" sz="2800" b="1" dirty="0"/>
          </a:p>
          <a:p>
            <a:r>
              <a:rPr lang="en-IN" sz="2800" b="1" dirty="0"/>
              <a:t>Insight: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 small group of high-value customers drives the majority of sales, highlighting the importance of customer segmentation and retention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20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8C8A5-5512-9F69-A1DF-A86B9CE8D811}"/>
              </a:ext>
            </a:extLst>
          </p:cNvPr>
          <p:cNvSpPr/>
          <p:nvPr/>
        </p:nvSpPr>
        <p:spPr>
          <a:xfrm>
            <a:off x="0" y="-1"/>
            <a:ext cx="12192000" cy="12573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/>
              <a:t>Product Contribution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19A35-C1D4-5E8E-0A8D-CE22E6DB88C5}"/>
              </a:ext>
            </a:extLst>
          </p:cNvPr>
          <p:cNvSpPr txBox="1"/>
          <p:nvPr/>
        </p:nvSpPr>
        <p:spPr>
          <a:xfrm>
            <a:off x="273844" y="1487329"/>
            <a:ext cx="1164431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Revenue Contribution: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21% of products generate 80% of total revenue</a:t>
            </a:r>
          </a:p>
          <a:p>
            <a:endParaRPr lang="en-GB" dirty="0"/>
          </a:p>
          <a:p>
            <a:r>
              <a:rPr lang="en-IN" sz="2400" b="1" dirty="0"/>
              <a:t>Sales Volume Contribution: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23% of products generate 80% of total sales volume</a:t>
            </a:r>
          </a:p>
          <a:p>
            <a:endParaRPr lang="en-GB" dirty="0"/>
          </a:p>
          <a:p>
            <a:r>
              <a:rPr lang="en-IN" sz="2400" b="1" dirty="0"/>
              <a:t>Insight:</a:t>
            </a:r>
          </a:p>
          <a:p>
            <a:endParaRPr lang="en-IN" sz="2400" b="1" dirty="0"/>
          </a:p>
          <a:p>
            <a:r>
              <a:rPr lang="en-GB" dirty="0"/>
              <a:t>A limited number of products contribute most of the revenue and sales volume.</a:t>
            </a:r>
            <a:br>
              <a:rPr lang="en-GB" dirty="0"/>
            </a:br>
            <a:endParaRPr lang="en-GB" dirty="0"/>
          </a:p>
          <a:p>
            <a:r>
              <a:rPr lang="en-GB" sz="2400" b="1" dirty="0"/>
              <a:t>This suggests businesses should focus on: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Promoting top-performing products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Optimizing inventory management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476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5479D9-9E87-02D8-E90C-6B82C1E744A1}"/>
              </a:ext>
            </a:extLst>
          </p:cNvPr>
          <p:cNvSpPr/>
          <p:nvPr/>
        </p:nvSpPr>
        <p:spPr>
          <a:xfrm>
            <a:off x="0" y="-1"/>
            <a:ext cx="12192000" cy="125730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 dirty="0"/>
              <a:t>RFM Analysis and Customer Segmentation</a:t>
            </a:r>
            <a:endParaRPr lang="en-IN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E14AB-5CA2-837D-D56E-DDD436F73108}"/>
              </a:ext>
            </a:extLst>
          </p:cNvPr>
          <p:cNvSpPr txBox="1"/>
          <p:nvPr/>
        </p:nvSpPr>
        <p:spPr>
          <a:xfrm>
            <a:off x="485775" y="1671638"/>
            <a:ext cx="1132998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What is RFM?</a:t>
            </a:r>
          </a:p>
          <a:p>
            <a:endParaRPr lang="en-GB" sz="2000" dirty="0"/>
          </a:p>
          <a:p>
            <a:r>
              <a:rPr lang="en-GB" sz="2000" dirty="0"/>
              <a:t>RFM is a customer segmentation technique used to analyse purchasing behaviour based on three metrics.</a:t>
            </a:r>
          </a:p>
          <a:p>
            <a:endParaRPr lang="en-GB" sz="2000" dirty="0"/>
          </a:p>
          <a:p>
            <a:r>
              <a:rPr lang="en-IN" sz="2000" dirty="0"/>
              <a:t>Recency (R)     : </a:t>
            </a:r>
            <a:r>
              <a:rPr lang="en-GB" sz="2000" dirty="0"/>
              <a:t>Days since the last purchase</a:t>
            </a:r>
          </a:p>
          <a:p>
            <a:endParaRPr lang="en-GB" sz="2000" dirty="0"/>
          </a:p>
          <a:p>
            <a:r>
              <a:rPr lang="en-IN" sz="2000" dirty="0"/>
              <a:t>Frequency (F) : Number of purchases made</a:t>
            </a:r>
          </a:p>
          <a:p>
            <a:endParaRPr lang="en-IN" sz="2000" dirty="0"/>
          </a:p>
          <a:p>
            <a:r>
              <a:rPr lang="en-IN" sz="2000" dirty="0"/>
              <a:t>Monetary (M) : </a:t>
            </a:r>
            <a:r>
              <a:rPr lang="en-GB" sz="2000" dirty="0"/>
              <a:t>Total amount spent by the customer</a:t>
            </a:r>
          </a:p>
          <a:p>
            <a:endParaRPr lang="en-GB" sz="2000" dirty="0"/>
          </a:p>
          <a:p>
            <a:r>
              <a:rPr lang="en-GB" sz="2000" dirty="0"/>
              <a:t>Customers are segmented into five equal buckets based on Recency, Frequency, and Monetary values. Each customer is ranked for each metric, assigned a score from 1 to 5, and their scores are summed to derive an overall RFM score for analysis.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76879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88EFE-666B-8963-1306-ACDF59D59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976" y="1112996"/>
            <a:ext cx="6958012" cy="57112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B0849-44FE-78CB-47E3-BD5781B70C77}"/>
              </a:ext>
            </a:extLst>
          </p:cNvPr>
          <p:cNvSpPr txBox="1"/>
          <p:nvPr/>
        </p:nvSpPr>
        <p:spPr>
          <a:xfrm>
            <a:off x="1157288" y="242888"/>
            <a:ext cx="8943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Heat Map Based on RFM Scores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9988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E67BB-0395-E0E0-31F0-E5F26A43CF98}"/>
              </a:ext>
            </a:extLst>
          </p:cNvPr>
          <p:cNvSpPr/>
          <p:nvPr/>
        </p:nvSpPr>
        <p:spPr>
          <a:xfrm>
            <a:off x="0" y="0"/>
            <a:ext cx="12192000" cy="140017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RFM Analysis and Customer Segmentation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F8C0A-5B57-4CD0-2DD6-C7240E4B4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" y="1655303"/>
            <a:ext cx="4695699" cy="4045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60DF9-4F73-F567-7A81-9C431B82511D}"/>
              </a:ext>
            </a:extLst>
          </p:cNvPr>
          <p:cNvSpPr txBox="1"/>
          <p:nvPr/>
        </p:nvSpPr>
        <p:spPr>
          <a:xfrm>
            <a:off x="4914900" y="1655303"/>
            <a:ext cx="70008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b="1" dirty="0"/>
              <a:t>Based on this RFM Score Analysis, we have four customer segments:</a:t>
            </a:r>
          </a:p>
          <a:p>
            <a:endParaRPr lang="en" sz="2000" b="1" dirty="0"/>
          </a:p>
          <a:p>
            <a:r>
              <a:rPr lang="en" b="1" dirty="0"/>
              <a:t>High Value:</a:t>
            </a:r>
            <a:r>
              <a:rPr lang="en-GB" dirty="0"/>
              <a:t>Customers who purchase recently, frequently, and spend the most. They are the most valuable customers for the business.</a:t>
            </a:r>
          </a:p>
          <a:p>
            <a:endParaRPr lang="en" dirty="0"/>
          </a:p>
          <a:p>
            <a:r>
              <a:rPr lang="en" b="1" dirty="0"/>
              <a:t>Loyal:</a:t>
            </a:r>
            <a:r>
              <a:rPr lang="en-GB" dirty="0"/>
              <a:t>Customers who buy regularly but may not spend as much as high-value customers</a:t>
            </a:r>
          </a:p>
          <a:p>
            <a:endParaRPr lang="en" dirty="0"/>
          </a:p>
          <a:p>
            <a:r>
              <a:rPr lang="en" b="1" dirty="0"/>
              <a:t>At-Risk:</a:t>
            </a:r>
            <a:r>
              <a:rPr lang="en-GB" dirty="0"/>
              <a:t>Customers who used to purchase before but have not bought recently and may stop buying.</a:t>
            </a:r>
          </a:p>
          <a:p>
            <a:endParaRPr lang="en" dirty="0"/>
          </a:p>
          <a:p>
            <a:r>
              <a:rPr lang="en" b="1" dirty="0"/>
              <a:t>Dormant:</a:t>
            </a:r>
            <a:r>
              <a:rPr lang="en-GB" dirty="0"/>
              <a:t>Customers who have not purchased for a long time and rarely buy.</a:t>
            </a:r>
            <a:endParaRPr lang="en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50004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4B1BDA-A590-E7C9-0A6B-45B6A3705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1294"/>
            <a:ext cx="5872163" cy="491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7A5804-9CC2-6471-4EC2-82AB71091326}"/>
              </a:ext>
            </a:extLst>
          </p:cNvPr>
          <p:cNvSpPr txBox="1"/>
          <p:nvPr/>
        </p:nvSpPr>
        <p:spPr>
          <a:xfrm>
            <a:off x="0" y="357187"/>
            <a:ext cx="9915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Heat Map Based on RFM(Customer Count per R-Score – F-Score) 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0AA21-4DAA-FAD1-09E6-9D24E396875E}"/>
              </a:ext>
            </a:extLst>
          </p:cNvPr>
          <p:cNvSpPr txBox="1"/>
          <p:nvPr/>
        </p:nvSpPr>
        <p:spPr>
          <a:xfrm>
            <a:off x="5929312" y="1543050"/>
            <a:ext cx="60007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The highest customer count appears in </a:t>
            </a:r>
            <a:r>
              <a:rPr lang="en-GB" b="1" dirty="0"/>
              <a:t>R=1, F=1 (362 customers), </a:t>
            </a:r>
            <a:r>
              <a:rPr lang="en-GB" dirty="0"/>
              <a:t>indicating many customers have not purchased recently and buy infrequently, showing potential inactivity.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A strong cluster of customers is visible in </a:t>
            </a:r>
            <a:r>
              <a:rPr lang="en-GB" b="1" dirty="0"/>
              <a:t>R=5, F=5 (443 customers), </a:t>
            </a:r>
            <a:r>
              <a:rPr lang="en-GB" dirty="0"/>
              <a:t>representing highly engaged and valuable customers who purchase frequently and recently.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Several customers fall into </a:t>
            </a:r>
            <a:r>
              <a:rPr lang="en-GB" b="1" dirty="0"/>
              <a:t>R=4–5 and F=4–5 </a:t>
            </a:r>
            <a:r>
              <a:rPr lang="en-GB" dirty="0"/>
              <a:t>ranges, suggesting a group of loyal and active customers with strong engagement.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Many customers are concentrated in low recency and low frequency regions, indicating opportunities for re-engagement and retention campaigns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09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5AD21-3E4E-410D-D2AF-B052F949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17" y="1435682"/>
            <a:ext cx="5069083" cy="3322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EC8EE2-C913-0AB1-50B5-C860023B72E2}"/>
              </a:ext>
            </a:extLst>
          </p:cNvPr>
          <p:cNvSpPr/>
          <p:nvPr/>
        </p:nvSpPr>
        <p:spPr>
          <a:xfrm>
            <a:off x="0" y="0"/>
            <a:ext cx="12192000" cy="98217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48C7A-5FBB-F59C-8392-3078C0A2F097}"/>
              </a:ext>
            </a:extLst>
          </p:cNvPr>
          <p:cNvSpPr txBox="1"/>
          <p:nvPr/>
        </p:nvSpPr>
        <p:spPr>
          <a:xfrm>
            <a:off x="142875" y="300038"/>
            <a:ext cx="1165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Customer Segmentation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AB309-9539-59B8-B197-200F76A086CA}"/>
              </a:ext>
            </a:extLst>
          </p:cNvPr>
          <p:cNvSpPr txBox="1"/>
          <p:nvPr/>
        </p:nvSpPr>
        <p:spPr>
          <a:xfrm>
            <a:off x="5686425" y="982176"/>
            <a:ext cx="61150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Insights: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At-Risk – 2837 customers (65.4%)</a:t>
            </a:r>
            <a:br>
              <a:rPr lang="en-GB" dirty="0"/>
            </a:br>
            <a:r>
              <a:rPr lang="en-GB" dirty="0"/>
              <a:t>Largest segment; many customers have not purchased recently.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Loyal – 693 customers (16.0%)</a:t>
            </a:r>
            <a:br>
              <a:rPr lang="en-GB" dirty="0"/>
            </a:br>
            <a:r>
              <a:rPr lang="en-GB" dirty="0"/>
              <a:t>Customers who purchase regularly and maintain engagement.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High Value – 443 customers (10.2%)</a:t>
            </a:r>
            <a:br>
              <a:rPr lang="en-GB" dirty="0"/>
            </a:br>
            <a:r>
              <a:rPr lang="en-GB" dirty="0"/>
              <a:t>Highly valuable customers who purchase frequently and recently.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Dormant – 362 customers (8.4%)</a:t>
            </a:r>
            <a:br>
              <a:rPr lang="en-GB" dirty="0"/>
            </a:br>
            <a:r>
              <a:rPr lang="en-GB" dirty="0"/>
              <a:t>Inactive customers who have not purchased for a long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95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A66FF-0CC5-5CBA-319F-D2EC617E0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9" y="826722"/>
            <a:ext cx="11840714" cy="58741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BF443-43BA-B72F-349D-285A93F02494}"/>
              </a:ext>
            </a:extLst>
          </p:cNvPr>
          <p:cNvSpPr txBox="1"/>
          <p:nvPr/>
        </p:nvSpPr>
        <p:spPr>
          <a:xfrm>
            <a:off x="146499" y="114300"/>
            <a:ext cx="11840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Dashboard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375633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1F32AE-CC56-71A9-FB44-3E4271DB4A1D}"/>
              </a:ext>
            </a:extLst>
          </p:cNvPr>
          <p:cNvSpPr/>
          <p:nvPr/>
        </p:nvSpPr>
        <p:spPr>
          <a:xfrm>
            <a:off x="0" y="0"/>
            <a:ext cx="12192000" cy="127734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Recommendations Based on Segments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94682-E64D-1C2A-907E-FD7674E38768}"/>
              </a:ext>
            </a:extLst>
          </p:cNvPr>
          <p:cNvSpPr txBox="1"/>
          <p:nvPr/>
        </p:nvSpPr>
        <p:spPr>
          <a:xfrm>
            <a:off x="0" y="1487606"/>
            <a:ext cx="12192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High Value Customers:</a:t>
            </a:r>
          </a:p>
          <a:p>
            <a:endParaRPr lang="en-GB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Characteristics</a:t>
            </a:r>
            <a:r>
              <a:rPr lang="en-GB" dirty="0"/>
              <a:t>: Highly engaged customers with the highest spending.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Behaviour</a:t>
            </a:r>
            <a:r>
              <a:rPr lang="en-GB" dirty="0"/>
              <a:t>: Recent purchases, high purchase frequency, and high spending.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Strategy</a:t>
            </a:r>
            <a:r>
              <a:rPr lang="en-GB" dirty="0"/>
              <a:t>: Offer loyalty rewards, exclusive deals, and early access to products</a:t>
            </a:r>
          </a:p>
          <a:p>
            <a:endParaRPr lang="en-GB" sz="2800" dirty="0"/>
          </a:p>
          <a:p>
            <a:r>
              <a:rPr lang="en-GB" sz="2800" dirty="0"/>
              <a:t>Loyal Customers: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Characteristics</a:t>
            </a:r>
            <a:r>
              <a:rPr lang="en-GB" dirty="0"/>
              <a:t>: Regular customers who purchase consistently.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Behaviour</a:t>
            </a:r>
            <a:r>
              <a:rPr lang="en-GB" dirty="0"/>
              <a:t>: Moderate recency, good purchase frequency, and steady spending.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Strategy</a:t>
            </a:r>
            <a:r>
              <a:rPr lang="en-GB" dirty="0"/>
              <a:t>: Provide personalized recommendations and upsell/cross-sell offers.</a:t>
            </a:r>
          </a:p>
        </p:txBody>
      </p:sp>
    </p:spTree>
    <p:extLst>
      <p:ext uri="{BB962C8B-B14F-4D97-AF65-F5344CB8AC3E}">
        <p14:creationId xmlns:p14="http://schemas.microsoft.com/office/powerpoint/2010/main" val="775735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E237F7-1030-FB8E-C8C9-D656965794C3}"/>
              </a:ext>
            </a:extLst>
          </p:cNvPr>
          <p:cNvSpPr/>
          <p:nvPr/>
        </p:nvSpPr>
        <p:spPr>
          <a:xfrm>
            <a:off x="0" y="0"/>
            <a:ext cx="12192000" cy="1277345"/>
          </a:xfrm>
          <a:prstGeom prst="rect">
            <a:avLst/>
          </a:prstGeom>
          <a:solidFill>
            <a:srgbClr val="002465"/>
          </a:solidFill>
          <a:ln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Recommendations Based on Segments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6CCAA-8507-EDF2-EE0E-5C57C3A454BF}"/>
              </a:ext>
            </a:extLst>
          </p:cNvPr>
          <p:cNvSpPr txBox="1"/>
          <p:nvPr/>
        </p:nvSpPr>
        <p:spPr>
          <a:xfrm>
            <a:off x="0" y="1446663"/>
            <a:ext cx="12192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At-Risk Customers:</a:t>
            </a:r>
          </a:p>
          <a:p>
            <a:endParaRPr lang="en-GB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Characteristics</a:t>
            </a:r>
            <a:r>
              <a:rPr lang="en-GB" dirty="0"/>
              <a:t>: Customers who were active before but are becoming less engaged.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Behaviour</a:t>
            </a:r>
            <a:r>
              <a:rPr lang="en-GB" dirty="0"/>
              <a:t>: Longer time since last purchase and lower purchase frequency.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Strategy</a:t>
            </a:r>
            <a:r>
              <a:rPr lang="en-GB" dirty="0"/>
              <a:t>: Send personalized emails, discounts, and re-engagement campaigns.</a:t>
            </a:r>
          </a:p>
          <a:p>
            <a:endParaRPr lang="en-GB" dirty="0"/>
          </a:p>
          <a:p>
            <a:r>
              <a:rPr lang="en-GB" sz="2800" dirty="0"/>
              <a:t>Dormant Customers:</a:t>
            </a:r>
          </a:p>
          <a:p>
            <a:endParaRPr lang="en-GB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Characteristics</a:t>
            </a:r>
            <a:r>
              <a:rPr lang="en-GB" dirty="0"/>
              <a:t>: Inactive customers with a high risk of churn.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Behaviour</a:t>
            </a:r>
            <a:r>
              <a:rPr lang="en-GB" dirty="0"/>
              <a:t>: Long time since last purchase, low frequency, and low spending.</a:t>
            </a:r>
          </a:p>
          <a:p>
            <a:endParaRPr lang="en-GB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Strategy</a:t>
            </a:r>
            <a:r>
              <a:rPr lang="en-GB" dirty="0"/>
              <a:t>: Run win-back campaigns, offer special discounts, and collect feedback.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4167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</TotalTime>
  <Words>1190</Words>
  <Application>Microsoft Office PowerPoint</Application>
  <PresentationFormat>Widescreen</PresentationFormat>
  <Paragraphs>188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Roboto</vt:lpstr>
      <vt:lpstr>Segoe UI</vt:lpstr>
      <vt:lpstr>Tw Cen MT</vt:lpstr>
      <vt:lpstr>Wingdings</vt:lpstr>
      <vt:lpstr>Circuit</vt:lpstr>
      <vt:lpstr>Office Theme</vt:lpstr>
      <vt:lpstr>Customer Segmentation Using RFM Analysis in E-Commerce</vt:lpstr>
      <vt:lpstr>PowerPoint Presentation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Gurubasappa hoonalli</dc:creator>
  <cp:lastModifiedBy>Gurubasappa hoonalli</cp:lastModifiedBy>
  <cp:revision>6</cp:revision>
  <dcterms:created xsi:type="dcterms:W3CDTF">2026-03-08T04:34:37Z</dcterms:created>
  <dcterms:modified xsi:type="dcterms:W3CDTF">2026-03-09T05:16:09Z</dcterms:modified>
</cp:coreProperties>
</file>